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64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3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5" d="100"/>
          <a:sy n="135" d="100"/>
        </p:scale>
        <p:origin x="192" y="196"/>
      </p:cViewPr>
      <p:guideLst>
        <p:guide orient="horz" pos="161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结束页：以华为品牌宣传片画面收尾，呼应主题，感谢观看。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A8E6C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4592"/>
            <a:ext cx="9144000" cy="54864"/>
          </a:xfrm>
          <a:prstGeom prst="rect">
            <a:avLst/>
          </a:prstGeom>
          <a:solidFill>
            <a:srgbClr val="D4F1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863840" y="-274320"/>
            <a:ext cx="1645920" cy="1645920"/>
          </a:xfrm>
          <a:prstGeom prst="ellipse">
            <a:avLst/>
          </a:prstGeom>
          <a:solidFill>
            <a:srgbClr val="E8F8F0">
              <a:alpha val="6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412480" y="365760"/>
            <a:ext cx="1097280" cy="1097280"/>
          </a:xfrm>
          <a:prstGeom prst="ellipse">
            <a:avLst/>
          </a:prstGeom>
          <a:solidFill>
            <a:srgbClr val="D4F1E8">
              <a:alpha val="5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57200" y="2894965"/>
            <a:ext cx="82296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800" b="0" i="0" u="none" strike="noStrike">
                <a:gradFill rotWithShape="1">
                  <a:gsLst>
                    <a:gs pos="0">
                      <a:srgbClr val="1F4E79">
                        <a:alpha val="100000"/>
                      </a:srgbClr>
                    </a:gs>
                    <a:gs pos="50000">
                      <a:srgbClr val="5B9BD5">
                        <a:alpha val="100000"/>
                      </a:srgbClr>
                    </a:gs>
                    <a:gs pos="100000">
                      <a:srgbClr val="9DC3E6">
                        <a:alpha val="100000"/>
                      </a:srgbClr>
                    </a:gs>
                  </a:gsLst>
                  <a:lin ang="5400000"/>
                </a:gra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大材毕组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0080" y="375285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8E0D5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77240" y="3826002"/>
            <a:ext cx="347472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姓名：_</a:t>
            </a:r>
            <a:r>
              <a:rPr lang="en-US" sz="1300" b="0" i="0" u="sng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_刘政廷   </a:t>
            </a: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学号：___</a:t>
            </a:r>
            <a:r>
              <a:rPr lang="en-US" sz="1300" b="0" i="0" u="sng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202611601320</a:t>
            </a: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_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754880" y="375285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8E0D5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892040" y="3826002"/>
            <a:ext cx="347472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姓名：_</a:t>
            </a:r>
            <a:r>
              <a:rPr lang="en-US" sz="1300" b="0" i="0" u="sng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_李健   </a:t>
            </a: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学号：___</a:t>
            </a:r>
            <a:r>
              <a:rPr lang="en-US" sz="1300" b="0" i="0" u="sng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202611601304</a:t>
            </a: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__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99765" y="50752"/>
            <a:ext cx="2743835" cy="27438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本章作业题（第6题）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57200" y="868680"/>
            <a:ext cx="8229600" cy="1417320"/>
          </a:xfrm>
          <a:prstGeom prst="roundRect">
            <a:avLst>
              <a:gd name="adj" fmla="val 7741"/>
            </a:avLst>
          </a:prstGeom>
          <a:solidFill>
            <a:srgbClr val="FFF3E0">
              <a:alpha val="100000"/>
            </a:srgbClr>
          </a:solidFill>
          <a:ln w="12700">
            <a:noFill/>
            <a:prstDash val="solid"/>
          </a:ln>
          <a:effectLst>
            <a:outerShdw blurRad="1935480000" dist="645160000" algn="bl" rotWithShape="0">
              <a:srgbClr val="000000">
                <a:alpha val="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57200" y="868680"/>
            <a:ext cx="109728" cy="1417320"/>
          </a:xfrm>
          <a:prstGeom prst="rect">
            <a:avLst/>
          </a:prstGeom>
          <a:solidFill>
            <a:srgbClr val="F39C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77240" y="1005840"/>
            <a:ext cx="7680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77240" y="1325880"/>
            <a:ext cx="768096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我理想的工作单位是××，向大家介绍一下这个单位和我能去的理由。（主要介绍为什么我能去）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我们的选择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200" y="2971800"/>
            <a:ext cx="8229600" cy="1554480"/>
          </a:xfrm>
          <a:prstGeom prst="roundRect">
            <a:avLst>
              <a:gd name="adj" fmla="val 7058"/>
            </a:avLst>
          </a:prstGeom>
          <a:solidFill>
            <a:srgbClr val="E8F5E9">
              <a:alpha val="100000"/>
            </a:srgbClr>
          </a:solidFill>
          <a:ln w="12700">
            <a:noFill/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" y="2971800"/>
            <a:ext cx="109728" cy="1554480"/>
          </a:xfrm>
          <a:prstGeom prst="rect">
            <a:avLst/>
          </a:prstGeom>
          <a:solidFill>
            <a:srgbClr val="00B89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709678" y="3284874"/>
            <a:ext cx="5724644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5400" b="1" i="0" u="none" strike="noStrike">
                <a:ln w="13462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262626"/>
                </a:solidFill>
                <a:effectLst>
                  <a:outerShdw dist="38100" dir="2700000" algn="bl" rotWithShape="0">
                    <a:srgbClr val="5B9BD5">
                      <a:alpha val="100000"/>
                    </a:srgbClr>
                  </a:outerShdw>
                </a:effectLst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华文琥珀" panose="02010800040101010101" charset="-122"/>
              </a:rPr>
              <a:t>华为技术有限公司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A8E6C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4592"/>
            <a:ext cx="9144000" cy="54864"/>
          </a:xfrm>
          <a:prstGeom prst="rect">
            <a:avLst/>
          </a:prstGeom>
          <a:solidFill>
            <a:srgbClr val="D4F1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863840" y="-274320"/>
            <a:ext cx="1645920" cy="1645920"/>
          </a:xfrm>
          <a:prstGeom prst="ellipse">
            <a:avLst/>
          </a:prstGeom>
          <a:solidFill>
            <a:srgbClr val="E8F8F0">
              <a:alpha val="6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412480" y="365760"/>
            <a:ext cx="1097280" cy="1097280"/>
          </a:xfrm>
          <a:prstGeom prst="ellipse">
            <a:avLst/>
          </a:prstGeom>
          <a:solidFill>
            <a:srgbClr val="D4F1E8">
              <a:alpha val="5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3518" y="50753"/>
            <a:ext cx="1930448" cy="193044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文本框 11"/>
          <p:cNvSpPr txBox="1"/>
          <p:nvPr/>
        </p:nvSpPr>
        <p:spPr>
          <a:xfrm>
            <a:off x="2231571" y="620486"/>
            <a:ext cx="6582491" cy="584775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行楷" panose="02010800040101010101" pitchFamily="2" charset="-122"/>
                <a:ea typeface="华文行楷" panose="02010800040101010101" pitchFamily="2" charset="-122"/>
              </a:rPr>
              <a:t>我们学了材料以后能干什么？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79735" y="1463040"/>
            <a:ext cx="2397993" cy="167610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96766" y="2252312"/>
            <a:ext cx="1634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琥珀" panose="02010800040101010101" charset="-122"/>
                <a:ea typeface="华文琥珀" panose="02010800040101010101" charset="-122"/>
              </a:rPr>
              <a:t>去厂里当个工人？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637" y="-2848846"/>
            <a:ext cx="2752725" cy="19240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349592" y="1463040"/>
            <a:ext cx="2646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琥珀" panose="02010800040101010101" charset="-122"/>
                <a:ea typeface="华文琥珀" panose="02010800040101010101" charset="-122"/>
              </a:rPr>
              <a:t>从事产品质量控制？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991023" y="721895"/>
            <a:ext cx="3388093" cy="1015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或者</a:t>
            </a:r>
            <a:r>
              <a:rPr lang="en-US" altLang="zh-CN" sz="6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……</a:t>
            </a:r>
            <a:endParaRPr lang="zh-CN" altLang="en-US" sz="60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397" y="5737157"/>
            <a:ext cx="2752725" cy="19240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410425" y="1981201"/>
            <a:ext cx="2397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琥珀" panose="02010800040101010101" charset="-122"/>
                <a:ea typeface="华文琥珀" panose="02010800040101010101" charset="-122"/>
              </a:rPr>
              <a:t>去搞搞科研？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69136E-6 L 0.246 4.69136E-6 C 0.35625 4.69136E-6 0.49218 0.06265 0.49218 0.11327 L 0.49218 0.22746 " pathEditMode="relative" rAng="0" ptsTypes="AA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18" y="11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69136E-6 L -0.02639 0.91544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9" y="45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-0.01111 L 0.00208 -0.01111 C 0.00174 -0.04198 0.00243 -0.07253 0.00104 -0.10309 C -0.00104 -0.14907 -0.0151 -0.19877 -0.01996 -0.24136 C -0.02986 -0.32531 -0.02396 -0.27778 -0.03785 -0.38364 C -0.03507 -0.46852 -0.03472 -0.5537 -0.02951 -0.63827 C -0.02639 -0.68889 -0.01406 -0.72037 0.00208 -0.75988 C 0.02379 -0.81296 0.03021 -0.82377 0.05885 -0.86667 C 0.06771 -0.87963 0.07552 -0.89691 0.08629 -0.90401 C 0.09913 -0.91235 0.11354 -0.90926 0.12726 -0.91142 L 0.18941 -0.92068 C 0.24774 -0.91266 0.30781 -0.92407 0.36406 -0.89661 C 0.38108 -0.88827 0.38576 -0.84691 0.39462 -0.81975 C 0.39705 -0.81235 0.4 -0.80525 0.40208 -0.79722 C 0.40504 -0.78519 0.40712 -0.77253 0.40938 -0.75988 C 0.41163 -0.74691 0.41354 -0.73364 0.4158 -0.72068 C 0.41528 -0.69938 0.41771 -0.67747 0.41458 -0.6571 C 0.41094 -0.63117 0.39028 -0.6284 0.3809 -0.61945 C 0.37517 -0.6142 0.37101 -0.60432 0.36528 -0.59907 C 0.36198 -0.59599 0.35816 -0.59599 0.35469 -0.59506 C 0.34271 -0.59228 0.33073 -0.59043 0.31892 -0.58766 C 0.31458 -0.58673 0.31042 -0.58488 0.30625 -0.58395 C 0.28698 -0.57994 0.28976 -0.58025 0.27674 -0.58025 L 0.27674 -0.58025 " pathEditMode="relative" ptsTypes="AAAAAAAAAAAAAAAAAAAAAAAA">
                                      <p:cBhvr>
                                        <p:cTn id="5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2 0.31204 L -0.80156 0.3259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469" y="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build="allAtOnce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4A">
              <a:alpha val="5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A2A4A">
              <a:alpha val="5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A0A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我的理想工作单位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华为技术有限公司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我为什么能去？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74720" y="3154680"/>
            <a:ext cx="2194560" cy="36576"/>
          </a:xfrm>
          <a:prstGeom prst="rect">
            <a:avLst/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B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《思想道德与法治》第一章</a:t>
            </a:r>
            <a:endParaRPr lang="en-US" sz="1100"/>
          </a:p>
          <a:p>
            <a:pPr marL="0" indent="0" algn="ctr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B0B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领悟人生真谛 · 把握人生方向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 为什么是华为？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人生目的 · 高尚的人生追求  ——  服务人民、奉献社会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0040" y="1143000"/>
            <a:ext cx="2788920" cy="338328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3" algn="bl" rotWithShape="0">
              <a:srgbClr val="000000">
                <a:alpha val="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20040" y="1143000"/>
            <a:ext cx="2788920" cy="91440"/>
          </a:xfrm>
          <a:prstGeom prst="rect">
            <a:avLst/>
          </a:prstGeom>
          <a:solidFill>
            <a:srgbClr val="0984E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25880" y="1417320"/>
            <a:ext cx="777240" cy="777240"/>
          </a:xfrm>
          <a:prstGeom prst="ellipse">
            <a:avLst/>
          </a:prstGeom>
          <a:solidFill>
            <a:srgbClr val="0984E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325880" y="1554480"/>
            <a:ext cx="77724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2920" y="2331720"/>
            <a:ext cx="24231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行业巨擘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2920" y="2697480"/>
            <a:ext cx="24231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全球视野与平台高度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2920" y="3108960"/>
            <a:ext cx="2423160" cy="1234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华为是全球领先的ICT基础设施与智能终端提供商。加入其中，意味着站在行业前沿，参与全球竞争，用技术服务更广泛的人群。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246120" y="1143000"/>
            <a:ext cx="2788920" cy="338328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2" algn="bl" rotWithShape="0">
              <a:srgbClr val="000000">
                <a:alpha val="8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246120" y="1143000"/>
            <a:ext cx="2788920" cy="91440"/>
          </a:xfrm>
          <a:prstGeom prst="rect">
            <a:avLst/>
          </a:prstGeom>
          <a:solidFill>
            <a:srgbClr val="00B89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251960" y="1417320"/>
            <a:ext cx="777240" cy="777240"/>
          </a:xfrm>
          <a:prstGeom prst="ellipse">
            <a:avLst/>
          </a:prstGeom>
          <a:solidFill>
            <a:srgbClr val="00B89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251960" y="1554480"/>
            <a:ext cx="77724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29000" y="2331720"/>
            <a:ext cx="24231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技术驱动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29000" y="2697480"/>
            <a:ext cx="24231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B8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创新不息的源动力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29000" y="3108960"/>
            <a:ext cx="2423160" cy="1234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高强度研发投入，持续突破前沿技术。技术不仅是工具，更是实现个人价值、推动社会进步的核心引擎。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72200" y="1143000"/>
            <a:ext cx="2788920" cy="338328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1" algn="bl" rotWithShape="0">
              <a:srgbClr val="000000">
                <a:alpha val="8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172200" y="1143000"/>
            <a:ext cx="2788920" cy="91440"/>
          </a:xfrm>
          <a:prstGeom prst="rect">
            <a:avLst/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78040" y="1417320"/>
            <a:ext cx="777240" cy="777240"/>
          </a:xfrm>
          <a:prstGeom prst="ellipse">
            <a:avLst/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178040" y="1554480"/>
            <a:ext cx="77724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价值共鸣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5080" y="2697480"/>
            <a:ext cx="24231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奋斗者的精神家园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5080" y="3108960"/>
            <a:ext cx="2423160" cy="1234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“以客户为中心，以奋斗者为本”。这与第一章倡导的“服务人民、奉献社会”高尚人生追求高度契合。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 我为什么能去？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人生态度</a:t>
            </a:r>
            <a:r>
              <a:rPr lang="en-US" sz="1300" b="0" i="0" u="none" strike="noStrike" dirty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en-US" sz="1300" b="0" i="0" u="none" strike="noStrike" dirty="0" err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积极进取的人生态度</a:t>
            </a:r>
            <a:r>
              <a:rPr lang="en-US" sz="1300" b="0" i="0" u="none" strike="noStrike" dirty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——  </a:t>
            </a:r>
            <a:r>
              <a:rPr lang="en-US" sz="1300" b="0" i="0" u="none" strike="noStrike" dirty="0" err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认真、务实、乐观、进取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365760" y="1143000"/>
            <a:ext cx="8412480" cy="105156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7" algn="bl" rotWithShape="0">
              <a:srgbClr val="000000">
                <a:alpha val="8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48640" y="1371600"/>
            <a:ext cx="822960" cy="594360"/>
          </a:xfrm>
          <a:prstGeom prst="roundRect">
            <a:avLst>
              <a:gd name="adj" fmla="val 15385"/>
            </a:avLst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48640" y="1463040"/>
            <a:ext cx="82296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00200" y="1307592"/>
            <a:ext cx="68580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沟通协作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00200" y="1645920"/>
            <a:ext cx="6858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善于倾听不同观点，精准表达核心想法。秉持协作共赢理念，主动配合团队节奏，助力项目高效落地。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5760" y="2331720"/>
            <a:ext cx="8412480" cy="105156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4" algn="bl" rotWithShape="0">
              <a:srgbClr val="000000">
                <a:alpha val="8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48640" y="2560320"/>
            <a:ext cx="822960" cy="594360"/>
          </a:xfrm>
          <a:prstGeom prst="roundRect">
            <a:avLst>
              <a:gd name="adj" fmla="val 15385"/>
            </a:avLst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48640" y="2651760"/>
            <a:ext cx="82296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00200" y="2496312"/>
            <a:ext cx="68580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抗压能力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00200" y="2834640"/>
            <a:ext cx="6858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面对紧迫时间节点与复杂任务，保持沉稳心态，科学规划优先级。在高压环境下依然保质保量完成交付。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" y="3520440"/>
            <a:ext cx="8412480" cy="105156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2" algn="bl" rotWithShape="0">
              <a:srgbClr val="000000">
                <a:alpha val="8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48640" y="3749040"/>
            <a:ext cx="822960" cy="594360"/>
          </a:xfrm>
          <a:prstGeom prst="roundRect">
            <a:avLst>
              <a:gd name="adj" fmla="val 15385"/>
            </a:avLst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48640" y="3840480"/>
            <a:ext cx="82296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00200" y="3685032"/>
            <a:ext cx="68580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快速学习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00200" y="4023360"/>
            <a:ext cx="6858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敏锐捕捉新知，快速掌握行业新技术与业务逻辑。面对陌生挑战能迅速调整路径，转化为实际工作能力。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/>
      <p:bldP spid="8" grpId="0"/>
      <p:bldP spid="9" grpId="0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65760" y="256032"/>
            <a:ext cx="841248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 </a:t>
            </a:r>
            <a:r>
              <a:rPr lang="en-US" sz="1800" b="1" i="0" u="none" strike="noStrike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人生价值</a:t>
            </a:r>
            <a:r>
              <a:rPr lang="en-US" sz="1800" b="1" i="0" u="none" strike="noStrike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en-US" sz="1800" b="1" i="0" u="none" strike="noStrike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个人价值与社会价值的统一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365760" y="6858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0F4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2920" y="777240"/>
            <a:ext cx="81381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评价人生价值的根本尺度，是看一个人的人生活动是否符合社会发展的客观规律，是否通过实践促进了历史的进步。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20040" y="1554480"/>
            <a:ext cx="2788920" cy="292608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1" algn="bl" rotWithShape="0">
              <a:srgbClr val="000000">
                <a:alpha val="8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2920" y="1783080"/>
            <a:ext cx="242316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7000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2920" y="2286000"/>
            <a:ext cx="24231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崇尚奋斗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2920" y="2834640"/>
            <a:ext cx="2423160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认同“以奋斗者为本”，坚信幸福是奋斗出来的。在挑战中突破自我，将个人成长与企业发展、社会发展深度绑定。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246120" y="1554480"/>
            <a:ext cx="2788920" cy="292608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9" algn="bl" rotWithShape="0">
              <a:srgbClr val="000000">
                <a:alpha val="8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29000" y="1783080"/>
            <a:ext cx="242316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7000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2286000"/>
            <a:ext cx="24231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追求卓越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29000" y="2834640"/>
            <a:ext cx="2423160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对技术探索怀有执着热情，以极致标准要求自己。致力于攻克难关，打磨世界级产品，拒绝平庸。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554480"/>
            <a:ext cx="2788920" cy="292608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" algn="bl" rotWithShape="0">
              <a:srgbClr val="000000">
                <a:alpha val="8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5080" y="1783080"/>
            <a:ext cx="242316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C7000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5080" y="2286000"/>
            <a:ext cx="24231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创造价值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5080" y="2834640"/>
            <a:ext cx="2423160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以客户需求为导向，用硬核技术赋能商业与社会。在奉献社会中实现自我价值，这正是人生价值的真正意义。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2A2A4A">
              <a:alpha val="6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315200" y="3474720"/>
            <a:ext cx="2743200" cy="2743200"/>
          </a:xfrm>
          <a:prstGeom prst="ellipse">
            <a:avLst/>
          </a:prstGeom>
          <a:solidFill>
            <a:srgbClr val="2A2A4A">
              <a:alpha val="6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3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以梦为马，不负韶华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B8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创造有意义的人生</a:t>
            </a:r>
            <a:endParaRPr lang="en-US" sz="1100"/>
          </a:p>
          <a:p>
            <a:pPr marL="0" indent="0" algn="ctr" defTabSz="914400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B8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在与祖国发展同向同行中成就出彩人生</a:t>
            </a:r>
          </a:p>
        </p:txBody>
      </p:sp>
      <p:sp>
        <p:nvSpPr>
          <p:cNvPr id="6" name="AutoShape 6"/>
          <p:cNvSpPr/>
          <p:nvPr/>
        </p:nvSpPr>
        <p:spPr>
          <a:xfrm>
            <a:off x="3383280" y="2606040"/>
            <a:ext cx="2377440" cy="36576"/>
          </a:xfrm>
          <a:prstGeom prst="rect">
            <a:avLst/>
          </a:prstGeom>
          <a:solidFill>
            <a:srgbClr val="C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97280" y="3227832"/>
            <a:ext cx="6949440" cy="1005840"/>
          </a:xfrm>
          <a:prstGeom prst="roundRect">
            <a:avLst>
              <a:gd name="adj" fmla="val 9090"/>
            </a:avLst>
          </a:prstGeom>
          <a:solidFill>
            <a:srgbClr val="2A2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80160" y="3364992"/>
            <a:ext cx="658368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扎实的专业基础  ·  积极进取的态度  ·  高度契合的价值观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80160" y="3776472"/>
            <a:ext cx="658368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A0A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让我有信心胜任华为的工作，在这个世界级平台上贡献自己的力量。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642584"/>
            <a:ext cx="1143000" cy="500916"/>
          </a:xfrm>
          <a:prstGeom prst="rect">
            <a:avLst/>
          </a:prstGeom>
        </p:spPr>
      </p:pic>
      <p:pic>
        <p:nvPicPr>
          <p:cNvPr id="4" name="图片 3" descr="huawei_b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27262"/>
            <a:ext cx="9144000" cy="527076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094672" y="2110085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感谢聆听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302</Words>
  <Application>Microsoft Office PowerPoint</Application>
  <PresentationFormat>全屏显示(16:9)</PresentationFormat>
  <Paragraphs>87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等线</vt:lpstr>
      <vt:lpstr>华文琥珀</vt:lpstr>
      <vt:lpstr>华文新魏</vt:lpstr>
      <vt:lpstr>华文行楷</vt:lpstr>
      <vt:lpstr>微软雅黑</vt:lpstr>
      <vt:lpstr>Arial</vt:lpstr>
      <vt:lpstr>Calibri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政廷 刘</cp:lastModifiedBy>
  <cp:revision>11</cp:revision>
  <dcterms:created xsi:type="dcterms:W3CDTF">2026-09-17T09:05:35Z</dcterms:created>
  <dcterms:modified xsi:type="dcterms:W3CDTF">2026-09-17T09:13:55Z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5F86870604554F08A477F7852823488C_12</vt:lpwstr>
  </property>
  <property fmtid="{D5CDD505-2E9C-101B-9397-08002B2CF9AE}" pid="3" name="KSOProductBuildVer">
    <vt:lpwstr>2052-12.1.0.28505</vt:lpwstr>
  </property>
</Properties>
</file>